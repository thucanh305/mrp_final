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  <p:sldId id="261" r:id="rId6"/>
    <p:sldId id="267" r:id="rId7"/>
    <p:sldId id="263" r:id="rId8"/>
    <p:sldId id="266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667"/>
    <p:restoredTop sz="94643"/>
  </p:normalViewPr>
  <p:slideViewPr>
    <p:cSldViewPr snapToGrid="0" snapToObjects="1">
      <p:cViewPr varScale="1">
        <p:scale>
          <a:sx n="115" d="100"/>
          <a:sy n="115" d="100"/>
        </p:scale>
        <p:origin x="296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E3C5CB9-2B57-412B-B7CF-DB0E4E271C7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574D4EC-3DA1-40E5-A9F9-90A0596D8B7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Problem: Pneumonia detection from X-rays requires medical review which takes time, based on my experience</a:t>
          </a:r>
        </a:p>
      </dgm:t>
    </dgm:pt>
    <dgm:pt modelId="{3A3610CB-BB7C-49B2-A260-53B9908A97BF}" type="parTrans" cxnId="{29C4BDD6-A78E-4F2D-8FEF-238A75B2DBE8}">
      <dgm:prSet/>
      <dgm:spPr/>
      <dgm:t>
        <a:bodyPr/>
        <a:lstStyle/>
        <a:p>
          <a:endParaRPr lang="en-US"/>
        </a:p>
      </dgm:t>
    </dgm:pt>
    <dgm:pt modelId="{5A4132D2-CC39-4631-BBA4-399C392EEB5C}" type="sibTrans" cxnId="{29C4BDD6-A78E-4F2D-8FEF-238A75B2DBE8}">
      <dgm:prSet/>
      <dgm:spPr/>
      <dgm:t>
        <a:bodyPr/>
        <a:lstStyle/>
        <a:p>
          <a:endParaRPr lang="en-US"/>
        </a:p>
      </dgm:t>
    </dgm:pt>
    <dgm:pt modelId="{20F7475A-D957-48BA-80A5-F37321C51E5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AI can support faster screening, save time and resources</a:t>
          </a:r>
        </a:p>
      </dgm:t>
    </dgm:pt>
    <dgm:pt modelId="{9BE90FC8-B4DD-4C8B-B49C-7EA4368D18C3}" type="parTrans" cxnId="{517947F4-D532-4384-A816-560008F30C14}">
      <dgm:prSet/>
      <dgm:spPr/>
      <dgm:t>
        <a:bodyPr/>
        <a:lstStyle/>
        <a:p>
          <a:endParaRPr lang="en-US"/>
        </a:p>
      </dgm:t>
    </dgm:pt>
    <dgm:pt modelId="{A63C7D7C-9F3D-4E08-8B6B-F23106F2CD17}" type="sibTrans" cxnId="{517947F4-D532-4384-A816-560008F30C14}">
      <dgm:prSet/>
      <dgm:spPr/>
      <dgm:t>
        <a:bodyPr/>
        <a:lstStyle/>
        <a:p>
          <a:endParaRPr lang="en-US"/>
        </a:p>
      </dgm:t>
    </dgm:pt>
    <dgm:pt modelId="{97C85CCE-9465-4036-8F45-1A6F17AE7D7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Project Goal: Use CNN to classify X-ray images</a:t>
          </a:r>
        </a:p>
      </dgm:t>
    </dgm:pt>
    <dgm:pt modelId="{C28CF859-CA5C-41B7-8480-355079174638}" type="parTrans" cxnId="{D368B8F2-324C-4975-B493-6F9FC79A96B9}">
      <dgm:prSet/>
      <dgm:spPr/>
      <dgm:t>
        <a:bodyPr/>
        <a:lstStyle/>
        <a:p>
          <a:endParaRPr lang="en-US"/>
        </a:p>
      </dgm:t>
    </dgm:pt>
    <dgm:pt modelId="{ED05B82D-BF0D-4C61-997F-3810D8898D55}" type="sibTrans" cxnId="{D368B8F2-324C-4975-B493-6F9FC79A96B9}">
      <dgm:prSet/>
      <dgm:spPr/>
      <dgm:t>
        <a:bodyPr/>
        <a:lstStyle/>
        <a:p>
          <a:endParaRPr lang="en-US"/>
        </a:p>
      </dgm:t>
    </dgm:pt>
    <dgm:pt modelId="{28A73451-ED11-4B4D-AB20-0CE70FC7B98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Output: NORMAL or PNEUMONIA</a:t>
          </a:r>
        </a:p>
      </dgm:t>
    </dgm:pt>
    <dgm:pt modelId="{466416BD-160F-4BFA-9C41-53ECE5571DB8}" type="parTrans" cxnId="{BC4DBB90-4259-4FD1-AC0B-BC3989EEB5D3}">
      <dgm:prSet/>
      <dgm:spPr/>
      <dgm:t>
        <a:bodyPr/>
        <a:lstStyle/>
        <a:p>
          <a:endParaRPr lang="en-US"/>
        </a:p>
      </dgm:t>
    </dgm:pt>
    <dgm:pt modelId="{7993A424-73B2-4891-9BA9-CC03CFCDE847}" type="sibTrans" cxnId="{BC4DBB90-4259-4FD1-AC0B-BC3989EEB5D3}">
      <dgm:prSet/>
      <dgm:spPr/>
      <dgm:t>
        <a:bodyPr/>
        <a:lstStyle/>
        <a:p>
          <a:endParaRPr lang="en-US"/>
        </a:p>
      </dgm:t>
    </dgm:pt>
    <dgm:pt modelId="{83CD0331-D24E-4965-99FE-B56E15152AF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Result: 78.82% accuracy</a:t>
          </a:r>
        </a:p>
      </dgm:t>
    </dgm:pt>
    <dgm:pt modelId="{B4D8A151-E59F-4B37-AEE5-78CCBC6D05FE}" type="parTrans" cxnId="{DDB35B55-1F83-41D5-99B0-B7EDB1BA90B1}">
      <dgm:prSet/>
      <dgm:spPr/>
      <dgm:t>
        <a:bodyPr/>
        <a:lstStyle/>
        <a:p>
          <a:endParaRPr lang="en-US"/>
        </a:p>
      </dgm:t>
    </dgm:pt>
    <dgm:pt modelId="{1DA18244-8251-4D98-8FD4-6F52E2BE6422}" type="sibTrans" cxnId="{DDB35B55-1F83-41D5-99B0-B7EDB1BA90B1}">
      <dgm:prSet/>
      <dgm:spPr/>
      <dgm:t>
        <a:bodyPr/>
        <a:lstStyle/>
        <a:p>
          <a:endParaRPr lang="en-US"/>
        </a:p>
      </dgm:t>
    </dgm:pt>
    <dgm:pt modelId="{0C5175B1-CF9A-45B1-8A34-A4C291293475}" type="pres">
      <dgm:prSet presAssocID="{FE3C5CB9-2B57-412B-B7CF-DB0E4E271C76}" presName="root" presStyleCnt="0">
        <dgm:presLayoutVars>
          <dgm:dir/>
          <dgm:resizeHandles val="exact"/>
        </dgm:presLayoutVars>
      </dgm:prSet>
      <dgm:spPr/>
    </dgm:pt>
    <dgm:pt modelId="{C0AD5567-489E-4FE7-9FCB-E68933FCE598}" type="pres">
      <dgm:prSet presAssocID="{0574D4EC-3DA1-40E5-A9F9-90A0596D8B76}" presName="compNode" presStyleCnt="0"/>
      <dgm:spPr/>
    </dgm:pt>
    <dgm:pt modelId="{C8D5EC7F-F7D8-41A5-82AD-E39C5CB845A8}" type="pres">
      <dgm:prSet presAssocID="{0574D4EC-3DA1-40E5-A9F9-90A0596D8B76}" presName="bgRect" presStyleLbl="bgShp" presStyleIdx="0" presStyleCnt="5"/>
      <dgm:spPr/>
    </dgm:pt>
    <dgm:pt modelId="{544FC0CE-BA40-4012-835A-AF7DC574944B}" type="pres">
      <dgm:prSet presAssocID="{0574D4EC-3DA1-40E5-A9F9-90A0596D8B76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dium"/>
        </a:ext>
      </dgm:extLst>
    </dgm:pt>
    <dgm:pt modelId="{5BE5E1AF-F169-4965-8CB3-967B627A0A25}" type="pres">
      <dgm:prSet presAssocID="{0574D4EC-3DA1-40E5-A9F9-90A0596D8B76}" presName="spaceRect" presStyleCnt="0"/>
      <dgm:spPr/>
    </dgm:pt>
    <dgm:pt modelId="{2A01CA19-7D79-4FAE-867C-636B31CB2FB2}" type="pres">
      <dgm:prSet presAssocID="{0574D4EC-3DA1-40E5-A9F9-90A0596D8B76}" presName="parTx" presStyleLbl="revTx" presStyleIdx="0" presStyleCnt="5">
        <dgm:presLayoutVars>
          <dgm:chMax val="0"/>
          <dgm:chPref val="0"/>
        </dgm:presLayoutVars>
      </dgm:prSet>
      <dgm:spPr/>
    </dgm:pt>
    <dgm:pt modelId="{6313D384-E25E-4A2F-B00D-0DF445160078}" type="pres">
      <dgm:prSet presAssocID="{5A4132D2-CC39-4631-BBA4-399C392EEB5C}" presName="sibTrans" presStyleCnt="0"/>
      <dgm:spPr/>
    </dgm:pt>
    <dgm:pt modelId="{DCF8C4D2-F756-458E-9C52-03200D373425}" type="pres">
      <dgm:prSet presAssocID="{20F7475A-D957-48BA-80A5-F37321C51E5F}" presName="compNode" presStyleCnt="0"/>
      <dgm:spPr/>
    </dgm:pt>
    <dgm:pt modelId="{ECFB9CA0-54D5-4B60-BDD8-A1C5CA754B02}" type="pres">
      <dgm:prSet presAssocID="{20F7475A-D957-48BA-80A5-F37321C51E5F}" presName="bgRect" presStyleLbl="bgShp" presStyleIdx="1" presStyleCnt="5"/>
      <dgm:spPr/>
    </dgm:pt>
    <dgm:pt modelId="{132D60A8-20FD-426C-BA9F-23799907BE47}" type="pres">
      <dgm:prSet presAssocID="{20F7475A-D957-48BA-80A5-F37321C51E5F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71453E46-EE5F-4AC8-9DE7-E35373CA41D2}" type="pres">
      <dgm:prSet presAssocID="{20F7475A-D957-48BA-80A5-F37321C51E5F}" presName="spaceRect" presStyleCnt="0"/>
      <dgm:spPr/>
    </dgm:pt>
    <dgm:pt modelId="{B62A59AD-F4F4-4585-8AC6-DB86C47CC9D3}" type="pres">
      <dgm:prSet presAssocID="{20F7475A-D957-48BA-80A5-F37321C51E5F}" presName="parTx" presStyleLbl="revTx" presStyleIdx="1" presStyleCnt="5">
        <dgm:presLayoutVars>
          <dgm:chMax val="0"/>
          <dgm:chPref val="0"/>
        </dgm:presLayoutVars>
      </dgm:prSet>
      <dgm:spPr/>
    </dgm:pt>
    <dgm:pt modelId="{AEB67C30-00A8-43BA-B230-9FDC73781B7E}" type="pres">
      <dgm:prSet presAssocID="{A63C7D7C-9F3D-4E08-8B6B-F23106F2CD17}" presName="sibTrans" presStyleCnt="0"/>
      <dgm:spPr/>
    </dgm:pt>
    <dgm:pt modelId="{E80208FD-3161-47A0-B287-A3727CCE834F}" type="pres">
      <dgm:prSet presAssocID="{97C85CCE-9465-4036-8F45-1A6F17AE7D75}" presName="compNode" presStyleCnt="0"/>
      <dgm:spPr/>
    </dgm:pt>
    <dgm:pt modelId="{ADF81C2E-8585-4791-AE21-629248C09FAD}" type="pres">
      <dgm:prSet presAssocID="{97C85CCE-9465-4036-8F45-1A6F17AE7D75}" presName="bgRect" presStyleLbl="bgShp" presStyleIdx="2" presStyleCnt="5"/>
      <dgm:spPr/>
    </dgm:pt>
    <dgm:pt modelId="{FC07E7A2-94BF-400A-BAE1-7E38AECD149C}" type="pres">
      <dgm:prSet presAssocID="{97C85CCE-9465-4036-8F45-1A6F17AE7D75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4BEF82E5-2059-4899-89D1-0E83DFA921B7}" type="pres">
      <dgm:prSet presAssocID="{97C85CCE-9465-4036-8F45-1A6F17AE7D75}" presName="spaceRect" presStyleCnt="0"/>
      <dgm:spPr/>
    </dgm:pt>
    <dgm:pt modelId="{849007E4-3C1F-4A5D-9AD8-A1BDEA0E746B}" type="pres">
      <dgm:prSet presAssocID="{97C85CCE-9465-4036-8F45-1A6F17AE7D75}" presName="parTx" presStyleLbl="revTx" presStyleIdx="2" presStyleCnt="5">
        <dgm:presLayoutVars>
          <dgm:chMax val="0"/>
          <dgm:chPref val="0"/>
        </dgm:presLayoutVars>
      </dgm:prSet>
      <dgm:spPr/>
    </dgm:pt>
    <dgm:pt modelId="{6E727000-3367-47F7-9DF8-D0F85B08A96C}" type="pres">
      <dgm:prSet presAssocID="{ED05B82D-BF0D-4C61-997F-3810D8898D55}" presName="sibTrans" presStyleCnt="0"/>
      <dgm:spPr/>
    </dgm:pt>
    <dgm:pt modelId="{FE22974D-B9F3-4466-AA46-40564907C046}" type="pres">
      <dgm:prSet presAssocID="{28A73451-ED11-4B4D-AB20-0CE70FC7B980}" presName="compNode" presStyleCnt="0"/>
      <dgm:spPr/>
    </dgm:pt>
    <dgm:pt modelId="{407046A4-B23E-4DA1-8FE4-5254F8DA629F}" type="pres">
      <dgm:prSet presAssocID="{28A73451-ED11-4B4D-AB20-0CE70FC7B980}" presName="bgRect" presStyleLbl="bgShp" presStyleIdx="3" presStyleCnt="5"/>
      <dgm:spPr/>
    </dgm:pt>
    <dgm:pt modelId="{96AAE777-AABB-4256-99BE-B40AEC0EB708}" type="pres">
      <dgm:prSet presAssocID="{28A73451-ED11-4B4D-AB20-0CE70FC7B980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ungs"/>
        </a:ext>
      </dgm:extLst>
    </dgm:pt>
    <dgm:pt modelId="{B1AF4537-D1B3-4DB6-913C-1974BD4DE416}" type="pres">
      <dgm:prSet presAssocID="{28A73451-ED11-4B4D-AB20-0CE70FC7B980}" presName="spaceRect" presStyleCnt="0"/>
      <dgm:spPr/>
    </dgm:pt>
    <dgm:pt modelId="{0CCD4CFA-B579-4798-ADCC-E7401CA37932}" type="pres">
      <dgm:prSet presAssocID="{28A73451-ED11-4B4D-AB20-0CE70FC7B980}" presName="parTx" presStyleLbl="revTx" presStyleIdx="3" presStyleCnt="5">
        <dgm:presLayoutVars>
          <dgm:chMax val="0"/>
          <dgm:chPref val="0"/>
        </dgm:presLayoutVars>
      </dgm:prSet>
      <dgm:spPr/>
    </dgm:pt>
    <dgm:pt modelId="{76841B4D-984D-4D36-97A5-ABFDDB6A1295}" type="pres">
      <dgm:prSet presAssocID="{7993A424-73B2-4891-9BA9-CC03CFCDE847}" presName="sibTrans" presStyleCnt="0"/>
      <dgm:spPr/>
    </dgm:pt>
    <dgm:pt modelId="{01B80A74-8335-49C2-AF3A-EB022086A56D}" type="pres">
      <dgm:prSet presAssocID="{83CD0331-D24E-4965-99FE-B56E15152AF3}" presName="compNode" presStyleCnt="0"/>
      <dgm:spPr/>
    </dgm:pt>
    <dgm:pt modelId="{7CF99100-EDF0-44FB-97A5-7AB1A06E6D7A}" type="pres">
      <dgm:prSet presAssocID="{83CD0331-D24E-4965-99FE-B56E15152AF3}" presName="bgRect" presStyleLbl="bgShp" presStyleIdx="4" presStyleCnt="5"/>
      <dgm:spPr/>
    </dgm:pt>
    <dgm:pt modelId="{CF040AF7-0EBA-4F83-8321-14D02698C13E}" type="pres">
      <dgm:prSet presAssocID="{83CD0331-D24E-4965-99FE-B56E15152AF3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r"/>
        </a:ext>
      </dgm:extLst>
    </dgm:pt>
    <dgm:pt modelId="{1896E51D-4953-4624-8348-50FEC3B93433}" type="pres">
      <dgm:prSet presAssocID="{83CD0331-D24E-4965-99FE-B56E15152AF3}" presName="spaceRect" presStyleCnt="0"/>
      <dgm:spPr/>
    </dgm:pt>
    <dgm:pt modelId="{5AEE57A0-583D-4119-A632-B5C5F378F399}" type="pres">
      <dgm:prSet presAssocID="{83CD0331-D24E-4965-99FE-B56E15152AF3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C91AAD19-DB2A-47C7-A9B4-2283BAAE3666}" type="presOf" srcId="{97C85CCE-9465-4036-8F45-1A6F17AE7D75}" destId="{849007E4-3C1F-4A5D-9AD8-A1BDEA0E746B}" srcOrd="0" destOrd="0" presId="urn:microsoft.com/office/officeart/2018/2/layout/IconVerticalSolidList"/>
    <dgm:cxn modelId="{56E8CF32-C2A4-4DDB-84A9-8C4A3DB279D5}" type="presOf" srcId="{20F7475A-D957-48BA-80A5-F37321C51E5F}" destId="{B62A59AD-F4F4-4585-8AC6-DB86C47CC9D3}" srcOrd="0" destOrd="0" presId="urn:microsoft.com/office/officeart/2018/2/layout/IconVerticalSolidList"/>
    <dgm:cxn modelId="{DDB35B55-1F83-41D5-99B0-B7EDB1BA90B1}" srcId="{FE3C5CB9-2B57-412B-B7CF-DB0E4E271C76}" destId="{83CD0331-D24E-4965-99FE-B56E15152AF3}" srcOrd="4" destOrd="0" parTransId="{B4D8A151-E59F-4B37-AEE5-78CCBC6D05FE}" sibTransId="{1DA18244-8251-4D98-8FD4-6F52E2BE6422}"/>
    <dgm:cxn modelId="{544ACA5E-6316-4A82-9427-3A7B1625A1DB}" type="presOf" srcId="{FE3C5CB9-2B57-412B-B7CF-DB0E4E271C76}" destId="{0C5175B1-CF9A-45B1-8A34-A4C291293475}" srcOrd="0" destOrd="0" presId="urn:microsoft.com/office/officeart/2018/2/layout/IconVerticalSolidList"/>
    <dgm:cxn modelId="{BC4DBB90-4259-4FD1-AC0B-BC3989EEB5D3}" srcId="{FE3C5CB9-2B57-412B-B7CF-DB0E4E271C76}" destId="{28A73451-ED11-4B4D-AB20-0CE70FC7B980}" srcOrd="3" destOrd="0" parTransId="{466416BD-160F-4BFA-9C41-53ECE5571DB8}" sibTransId="{7993A424-73B2-4891-9BA9-CC03CFCDE847}"/>
    <dgm:cxn modelId="{E49F14A3-5A13-419F-9831-4C97A44739C6}" type="presOf" srcId="{28A73451-ED11-4B4D-AB20-0CE70FC7B980}" destId="{0CCD4CFA-B579-4798-ADCC-E7401CA37932}" srcOrd="0" destOrd="0" presId="urn:microsoft.com/office/officeart/2018/2/layout/IconVerticalSolidList"/>
    <dgm:cxn modelId="{0F6CABA5-CA2B-4FDA-9B88-7FA7B5A152EB}" type="presOf" srcId="{83CD0331-D24E-4965-99FE-B56E15152AF3}" destId="{5AEE57A0-583D-4119-A632-B5C5F378F399}" srcOrd="0" destOrd="0" presId="urn:microsoft.com/office/officeart/2018/2/layout/IconVerticalSolidList"/>
    <dgm:cxn modelId="{B6D529CD-4D46-4BD1-94D1-E91A762681B7}" type="presOf" srcId="{0574D4EC-3DA1-40E5-A9F9-90A0596D8B76}" destId="{2A01CA19-7D79-4FAE-867C-636B31CB2FB2}" srcOrd="0" destOrd="0" presId="urn:microsoft.com/office/officeart/2018/2/layout/IconVerticalSolidList"/>
    <dgm:cxn modelId="{29C4BDD6-A78E-4F2D-8FEF-238A75B2DBE8}" srcId="{FE3C5CB9-2B57-412B-B7CF-DB0E4E271C76}" destId="{0574D4EC-3DA1-40E5-A9F9-90A0596D8B76}" srcOrd="0" destOrd="0" parTransId="{3A3610CB-BB7C-49B2-A260-53B9908A97BF}" sibTransId="{5A4132D2-CC39-4631-BBA4-399C392EEB5C}"/>
    <dgm:cxn modelId="{D368B8F2-324C-4975-B493-6F9FC79A96B9}" srcId="{FE3C5CB9-2B57-412B-B7CF-DB0E4E271C76}" destId="{97C85CCE-9465-4036-8F45-1A6F17AE7D75}" srcOrd="2" destOrd="0" parTransId="{C28CF859-CA5C-41B7-8480-355079174638}" sibTransId="{ED05B82D-BF0D-4C61-997F-3810D8898D55}"/>
    <dgm:cxn modelId="{517947F4-D532-4384-A816-560008F30C14}" srcId="{FE3C5CB9-2B57-412B-B7CF-DB0E4E271C76}" destId="{20F7475A-D957-48BA-80A5-F37321C51E5F}" srcOrd="1" destOrd="0" parTransId="{9BE90FC8-B4DD-4C8B-B49C-7EA4368D18C3}" sibTransId="{A63C7D7C-9F3D-4E08-8B6B-F23106F2CD17}"/>
    <dgm:cxn modelId="{527B2D28-316D-492B-B93D-2E6A72A415D6}" type="presParOf" srcId="{0C5175B1-CF9A-45B1-8A34-A4C291293475}" destId="{C0AD5567-489E-4FE7-9FCB-E68933FCE598}" srcOrd="0" destOrd="0" presId="urn:microsoft.com/office/officeart/2018/2/layout/IconVerticalSolidList"/>
    <dgm:cxn modelId="{1C37C7C2-D91F-4F94-BBC1-AB69E79A25BB}" type="presParOf" srcId="{C0AD5567-489E-4FE7-9FCB-E68933FCE598}" destId="{C8D5EC7F-F7D8-41A5-82AD-E39C5CB845A8}" srcOrd="0" destOrd="0" presId="urn:microsoft.com/office/officeart/2018/2/layout/IconVerticalSolidList"/>
    <dgm:cxn modelId="{F7714F82-619C-46C6-B515-3AD5BD0B233B}" type="presParOf" srcId="{C0AD5567-489E-4FE7-9FCB-E68933FCE598}" destId="{544FC0CE-BA40-4012-835A-AF7DC574944B}" srcOrd="1" destOrd="0" presId="urn:microsoft.com/office/officeart/2018/2/layout/IconVerticalSolidList"/>
    <dgm:cxn modelId="{C85EB14F-1AD9-4EB7-B81A-289D3A3E6AE9}" type="presParOf" srcId="{C0AD5567-489E-4FE7-9FCB-E68933FCE598}" destId="{5BE5E1AF-F169-4965-8CB3-967B627A0A25}" srcOrd="2" destOrd="0" presId="urn:microsoft.com/office/officeart/2018/2/layout/IconVerticalSolidList"/>
    <dgm:cxn modelId="{A0768294-BF39-4258-95D1-0D685B026D4F}" type="presParOf" srcId="{C0AD5567-489E-4FE7-9FCB-E68933FCE598}" destId="{2A01CA19-7D79-4FAE-867C-636B31CB2FB2}" srcOrd="3" destOrd="0" presId="urn:microsoft.com/office/officeart/2018/2/layout/IconVerticalSolidList"/>
    <dgm:cxn modelId="{A592BC60-EF19-496C-AAFA-1DA404F4C246}" type="presParOf" srcId="{0C5175B1-CF9A-45B1-8A34-A4C291293475}" destId="{6313D384-E25E-4A2F-B00D-0DF445160078}" srcOrd="1" destOrd="0" presId="urn:microsoft.com/office/officeart/2018/2/layout/IconVerticalSolidList"/>
    <dgm:cxn modelId="{69D488BC-8E52-4701-8D34-7DAB1E1B6A29}" type="presParOf" srcId="{0C5175B1-CF9A-45B1-8A34-A4C291293475}" destId="{DCF8C4D2-F756-458E-9C52-03200D373425}" srcOrd="2" destOrd="0" presId="urn:microsoft.com/office/officeart/2018/2/layout/IconVerticalSolidList"/>
    <dgm:cxn modelId="{D0630B1F-5D9E-491C-A16A-6E35AD70D4AB}" type="presParOf" srcId="{DCF8C4D2-F756-458E-9C52-03200D373425}" destId="{ECFB9CA0-54D5-4B60-BDD8-A1C5CA754B02}" srcOrd="0" destOrd="0" presId="urn:microsoft.com/office/officeart/2018/2/layout/IconVerticalSolidList"/>
    <dgm:cxn modelId="{B65B6AF6-9ACD-4ED2-A73E-CF9FC5A771E0}" type="presParOf" srcId="{DCF8C4D2-F756-458E-9C52-03200D373425}" destId="{132D60A8-20FD-426C-BA9F-23799907BE47}" srcOrd="1" destOrd="0" presId="urn:microsoft.com/office/officeart/2018/2/layout/IconVerticalSolidList"/>
    <dgm:cxn modelId="{D1A2132C-BFA3-4356-91BD-82709E0B9486}" type="presParOf" srcId="{DCF8C4D2-F756-458E-9C52-03200D373425}" destId="{71453E46-EE5F-4AC8-9DE7-E35373CA41D2}" srcOrd="2" destOrd="0" presId="urn:microsoft.com/office/officeart/2018/2/layout/IconVerticalSolidList"/>
    <dgm:cxn modelId="{0AEDFA07-0EC5-4FA8-8E6A-B9761F281058}" type="presParOf" srcId="{DCF8C4D2-F756-458E-9C52-03200D373425}" destId="{B62A59AD-F4F4-4585-8AC6-DB86C47CC9D3}" srcOrd="3" destOrd="0" presId="urn:microsoft.com/office/officeart/2018/2/layout/IconVerticalSolidList"/>
    <dgm:cxn modelId="{CF5AF770-7A10-47F7-A904-847245A9E821}" type="presParOf" srcId="{0C5175B1-CF9A-45B1-8A34-A4C291293475}" destId="{AEB67C30-00A8-43BA-B230-9FDC73781B7E}" srcOrd="3" destOrd="0" presId="urn:microsoft.com/office/officeart/2018/2/layout/IconVerticalSolidList"/>
    <dgm:cxn modelId="{E67F66C6-EE73-4C0A-BA06-E714815AD924}" type="presParOf" srcId="{0C5175B1-CF9A-45B1-8A34-A4C291293475}" destId="{E80208FD-3161-47A0-B287-A3727CCE834F}" srcOrd="4" destOrd="0" presId="urn:microsoft.com/office/officeart/2018/2/layout/IconVerticalSolidList"/>
    <dgm:cxn modelId="{A0BA0730-F267-49E0-B577-2406E6CA57BB}" type="presParOf" srcId="{E80208FD-3161-47A0-B287-A3727CCE834F}" destId="{ADF81C2E-8585-4791-AE21-629248C09FAD}" srcOrd="0" destOrd="0" presId="urn:microsoft.com/office/officeart/2018/2/layout/IconVerticalSolidList"/>
    <dgm:cxn modelId="{B05B2985-30CB-4F74-8387-FAFF492AC768}" type="presParOf" srcId="{E80208FD-3161-47A0-B287-A3727CCE834F}" destId="{FC07E7A2-94BF-400A-BAE1-7E38AECD149C}" srcOrd="1" destOrd="0" presId="urn:microsoft.com/office/officeart/2018/2/layout/IconVerticalSolidList"/>
    <dgm:cxn modelId="{1DE98077-6281-4E38-BDF0-3B6464894D2F}" type="presParOf" srcId="{E80208FD-3161-47A0-B287-A3727CCE834F}" destId="{4BEF82E5-2059-4899-89D1-0E83DFA921B7}" srcOrd="2" destOrd="0" presId="urn:microsoft.com/office/officeart/2018/2/layout/IconVerticalSolidList"/>
    <dgm:cxn modelId="{3FDBC4C8-14A6-4B3E-A2C6-B1557D86B749}" type="presParOf" srcId="{E80208FD-3161-47A0-B287-A3727CCE834F}" destId="{849007E4-3C1F-4A5D-9AD8-A1BDEA0E746B}" srcOrd="3" destOrd="0" presId="urn:microsoft.com/office/officeart/2018/2/layout/IconVerticalSolidList"/>
    <dgm:cxn modelId="{4BF84564-2260-4E49-A8CE-5CE3B7C78365}" type="presParOf" srcId="{0C5175B1-CF9A-45B1-8A34-A4C291293475}" destId="{6E727000-3367-47F7-9DF8-D0F85B08A96C}" srcOrd="5" destOrd="0" presId="urn:microsoft.com/office/officeart/2018/2/layout/IconVerticalSolidList"/>
    <dgm:cxn modelId="{E5C20434-AB67-42C1-AFAA-CEFB6AF70F84}" type="presParOf" srcId="{0C5175B1-CF9A-45B1-8A34-A4C291293475}" destId="{FE22974D-B9F3-4466-AA46-40564907C046}" srcOrd="6" destOrd="0" presId="urn:microsoft.com/office/officeart/2018/2/layout/IconVerticalSolidList"/>
    <dgm:cxn modelId="{32CC35E7-62EF-4BF0-A034-D355AD35C2BD}" type="presParOf" srcId="{FE22974D-B9F3-4466-AA46-40564907C046}" destId="{407046A4-B23E-4DA1-8FE4-5254F8DA629F}" srcOrd="0" destOrd="0" presId="urn:microsoft.com/office/officeart/2018/2/layout/IconVerticalSolidList"/>
    <dgm:cxn modelId="{8AC90366-62BE-473D-8FD3-A3A3AF10C341}" type="presParOf" srcId="{FE22974D-B9F3-4466-AA46-40564907C046}" destId="{96AAE777-AABB-4256-99BE-B40AEC0EB708}" srcOrd="1" destOrd="0" presId="urn:microsoft.com/office/officeart/2018/2/layout/IconVerticalSolidList"/>
    <dgm:cxn modelId="{6E859A75-6B0D-4365-93A0-E7AB40B28334}" type="presParOf" srcId="{FE22974D-B9F3-4466-AA46-40564907C046}" destId="{B1AF4537-D1B3-4DB6-913C-1974BD4DE416}" srcOrd="2" destOrd="0" presId="urn:microsoft.com/office/officeart/2018/2/layout/IconVerticalSolidList"/>
    <dgm:cxn modelId="{395D0680-7348-4A65-AC72-D397D3E9AA31}" type="presParOf" srcId="{FE22974D-B9F3-4466-AA46-40564907C046}" destId="{0CCD4CFA-B579-4798-ADCC-E7401CA37932}" srcOrd="3" destOrd="0" presId="urn:microsoft.com/office/officeart/2018/2/layout/IconVerticalSolidList"/>
    <dgm:cxn modelId="{8B5BEDBB-A513-437E-B483-FFA8D00F631C}" type="presParOf" srcId="{0C5175B1-CF9A-45B1-8A34-A4C291293475}" destId="{76841B4D-984D-4D36-97A5-ABFDDB6A1295}" srcOrd="7" destOrd="0" presId="urn:microsoft.com/office/officeart/2018/2/layout/IconVerticalSolidList"/>
    <dgm:cxn modelId="{16CBDAD9-2AEF-47B4-8BB0-D52E53D274C6}" type="presParOf" srcId="{0C5175B1-CF9A-45B1-8A34-A4C291293475}" destId="{01B80A74-8335-49C2-AF3A-EB022086A56D}" srcOrd="8" destOrd="0" presId="urn:microsoft.com/office/officeart/2018/2/layout/IconVerticalSolidList"/>
    <dgm:cxn modelId="{BCB47365-45BC-44CA-9389-D6087913E563}" type="presParOf" srcId="{01B80A74-8335-49C2-AF3A-EB022086A56D}" destId="{7CF99100-EDF0-44FB-97A5-7AB1A06E6D7A}" srcOrd="0" destOrd="0" presId="urn:microsoft.com/office/officeart/2018/2/layout/IconVerticalSolidList"/>
    <dgm:cxn modelId="{D8C1DBC3-601B-4161-9F23-D5F84A60331F}" type="presParOf" srcId="{01B80A74-8335-49C2-AF3A-EB022086A56D}" destId="{CF040AF7-0EBA-4F83-8321-14D02698C13E}" srcOrd="1" destOrd="0" presId="urn:microsoft.com/office/officeart/2018/2/layout/IconVerticalSolidList"/>
    <dgm:cxn modelId="{48AD9F76-306F-46FC-9004-53C8E2D35A76}" type="presParOf" srcId="{01B80A74-8335-49C2-AF3A-EB022086A56D}" destId="{1896E51D-4953-4624-8348-50FEC3B93433}" srcOrd="2" destOrd="0" presId="urn:microsoft.com/office/officeart/2018/2/layout/IconVerticalSolidList"/>
    <dgm:cxn modelId="{5E956BE7-0978-4053-86BA-91AA54D5A31D}" type="presParOf" srcId="{01B80A74-8335-49C2-AF3A-EB022086A56D}" destId="{5AEE57A0-583D-4119-A632-B5C5F378F39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D5EC7F-F7D8-41A5-82AD-E39C5CB845A8}">
      <dsp:nvSpPr>
        <dsp:cNvPr id="0" name=""/>
        <dsp:cNvSpPr/>
      </dsp:nvSpPr>
      <dsp:spPr>
        <a:xfrm>
          <a:off x="0" y="4366"/>
          <a:ext cx="4683949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4FC0CE-BA40-4012-835A-AF7DC574944B}">
      <dsp:nvSpPr>
        <dsp:cNvPr id="0" name=""/>
        <dsp:cNvSpPr/>
      </dsp:nvSpPr>
      <dsp:spPr>
        <a:xfrm>
          <a:off x="281355" y="213639"/>
          <a:ext cx="511556" cy="51155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01CA19-7D79-4FAE-867C-636B31CB2FB2}">
      <dsp:nvSpPr>
        <dsp:cNvPr id="0" name=""/>
        <dsp:cNvSpPr/>
      </dsp:nvSpPr>
      <dsp:spPr>
        <a:xfrm>
          <a:off x="1074268" y="4366"/>
          <a:ext cx="3609680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Problem: Pneumonia detection from X-rays requires medical review which takes time, based on my experience</a:t>
          </a:r>
        </a:p>
      </dsp:txBody>
      <dsp:txXfrm>
        <a:off x="1074268" y="4366"/>
        <a:ext cx="3609680" cy="930102"/>
      </dsp:txXfrm>
    </dsp:sp>
    <dsp:sp modelId="{ECFB9CA0-54D5-4B60-BDD8-A1C5CA754B02}">
      <dsp:nvSpPr>
        <dsp:cNvPr id="0" name=""/>
        <dsp:cNvSpPr/>
      </dsp:nvSpPr>
      <dsp:spPr>
        <a:xfrm>
          <a:off x="0" y="1166994"/>
          <a:ext cx="4683949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2D60A8-20FD-426C-BA9F-23799907BE47}">
      <dsp:nvSpPr>
        <dsp:cNvPr id="0" name=""/>
        <dsp:cNvSpPr/>
      </dsp:nvSpPr>
      <dsp:spPr>
        <a:xfrm>
          <a:off x="281355" y="1376267"/>
          <a:ext cx="511556" cy="51155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2A59AD-F4F4-4585-8AC6-DB86C47CC9D3}">
      <dsp:nvSpPr>
        <dsp:cNvPr id="0" name=""/>
        <dsp:cNvSpPr/>
      </dsp:nvSpPr>
      <dsp:spPr>
        <a:xfrm>
          <a:off x="1074268" y="1166994"/>
          <a:ext cx="3609680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AI can support faster screening, save time and resources</a:t>
          </a:r>
        </a:p>
      </dsp:txBody>
      <dsp:txXfrm>
        <a:off x="1074268" y="1166994"/>
        <a:ext cx="3609680" cy="930102"/>
      </dsp:txXfrm>
    </dsp:sp>
    <dsp:sp modelId="{ADF81C2E-8585-4791-AE21-629248C09FAD}">
      <dsp:nvSpPr>
        <dsp:cNvPr id="0" name=""/>
        <dsp:cNvSpPr/>
      </dsp:nvSpPr>
      <dsp:spPr>
        <a:xfrm>
          <a:off x="0" y="2329622"/>
          <a:ext cx="4683949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07E7A2-94BF-400A-BAE1-7E38AECD149C}">
      <dsp:nvSpPr>
        <dsp:cNvPr id="0" name=""/>
        <dsp:cNvSpPr/>
      </dsp:nvSpPr>
      <dsp:spPr>
        <a:xfrm>
          <a:off x="281355" y="2538895"/>
          <a:ext cx="511556" cy="51155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9007E4-3C1F-4A5D-9AD8-A1BDEA0E746B}">
      <dsp:nvSpPr>
        <dsp:cNvPr id="0" name=""/>
        <dsp:cNvSpPr/>
      </dsp:nvSpPr>
      <dsp:spPr>
        <a:xfrm>
          <a:off x="1074268" y="2329622"/>
          <a:ext cx="3609680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Project Goal: Use CNN to classify X-ray images</a:t>
          </a:r>
        </a:p>
      </dsp:txBody>
      <dsp:txXfrm>
        <a:off x="1074268" y="2329622"/>
        <a:ext cx="3609680" cy="930102"/>
      </dsp:txXfrm>
    </dsp:sp>
    <dsp:sp modelId="{407046A4-B23E-4DA1-8FE4-5254F8DA629F}">
      <dsp:nvSpPr>
        <dsp:cNvPr id="0" name=""/>
        <dsp:cNvSpPr/>
      </dsp:nvSpPr>
      <dsp:spPr>
        <a:xfrm>
          <a:off x="0" y="3492250"/>
          <a:ext cx="4683949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AAE777-AABB-4256-99BE-B40AEC0EB708}">
      <dsp:nvSpPr>
        <dsp:cNvPr id="0" name=""/>
        <dsp:cNvSpPr/>
      </dsp:nvSpPr>
      <dsp:spPr>
        <a:xfrm>
          <a:off x="281355" y="3701523"/>
          <a:ext cx="511556" cy="51155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CD4CFA-B579-4798-ADCC-E7401CA37932}">
      <dsp:nvSpPr>
        <dsp:cNvPr id="0" name=""/>
        <dsp:cNvSpPr/>
      </dsp:nvSpPr>
      <dsp:spPr>
        <a:xfrm>
          <a:off x="1074268" y="3492250"/>
          <a:ext cx="3609680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Output: NORMAL or PNEUMONIA</a:t>
          </a:r>
        </a:p>
      </dsp:txBody>
      <dsp:txXfrm>
        <a:off x="1074268" y="3492250"/>
        <a:ext cx="3609680" cy="930102"/>
      </dsp:txXfrm>
    </dsp:sp>
    <dsp:sp modelId="{7CF99100-EDF0-44FB-97A5-7AB1A06E6D7A}">
      <dsp:nvSpPr>
        <dsp:cNvPr id="0" name=""/>
        <dsp:cNvSpPr/>
      </dsp:nvSpPr>
      <dsp:spPr>
        <a:xfrm>
          <a:off x="0" y="4654878"/>
          <a:ext cx="4683949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040AF7-0EBA-4F83-8321-14D02698C13E}">
      <dsp:nvSpPr>
        <dsp:cNvPr id="0" name=""/>
        <dsp:cNvSpPr/>
      </dsp:nvSpPr>
      <dsp:spPr>
        <a:xfrm>
          <a:off x="281355" y="4864151"/>
          <a:ext cx="511556" cy="51155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EE57A0-583D-4119-A632-B5C5F378F399}">
      <dsp:nvSpPr>
        <dsp:cNvPr id="0" name=""/>
        <dsp:cNvSpPr/>
      </dsp:nvSpPr>
      <dsp:spPr>
        <a:xfrm>
          <a:off x="1074268" y="4654878"/>
          <a:ext cx="3609680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Result: 78.82% accuracy</a:t>
          </a:r>
        </a:p>
      </dsp:txBody>
      <dsp:txXfrm>
        <a:off x="1074268" y="4654878"/>
        <a:ext cx="3609680" cy="9301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orch.org/vision/stable/index.html" TargetMode="External"/><Relationship Id="rId2" Type="http://schemas.openxmlformats.org/officeDocument/2006/relationships/hyperlink" Target="https://pytorch.org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hoMQMG_n_yI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>
              <a:lnSpc>
                <a:spcPct val="90000"/>
              </a:lnSpc>
              <a:defRPr sz="3000"/>
            </a:pPr>
            <a:r>
              <a:rPr lang="en-US"/>
              <a:t>Pneumonia Detection Using CNN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0C09848C-F57C-22A5-58F6-3FDA7D8860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5387362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pPr>
              <a:defRPr sz="3000"/>
            </a:pPr>
            <a:r>
              <a:rPr lang="en-US" sz="3500" dirty="0">
                <a:solidFill>
                  <a:srgbClr val="FFFFFF"/>
                </a:solidFill>
              </a:rPr>
              <a:t>Motivation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AE0DD1-A136-7537-2B58-137AA49719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95745"/>
            <a:ext cx="8229600" cy="609835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Pneumonia is a serious lung infection that requires fast and accurate diagnosis. </a:t>
            </a:r>
          </a:p>
          <a:p>
            <a:r>
              <a:rPr lang="en-US" dirty="0"/>
              <a:t>Traditional diagnosis relies on doctors manually reviewing chest X-ray images, which can be time-consuming and affected by human error. </a:t>
            </a:r>
          </a:p>
          <a:p>
            <a:r>
              <a:rPr lang="en-US" dirty="0"/>
              <a:t>Artificial Intelligence, especially Computer Vision (CV) and Deep Learning, can help automatically analyze medical images.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Why CNN?</a:t>
            </a:r>
          </a:p>
          <a:p>
            <a:r>
              <a:rPr lang="en-US" dirty="0"/>
              <a:t>CNNs are designed for image recognition tasks. </a:t>
            </a:r>
          </a:p>
          <a:p>
            <a:r>
              <a:rPr lang="en-US" dirty="0"/>
              <a:t>They automatically learn important image features such as patterns, edges, and abnormalities. </a:t>
            </a:r>
          </a:p>
          <a:p>
            <a:r>
              <a:rPr lang="en-US" dirty="0"/>
              <a:t>A CNN-based model can support faster and more consistent pneumonia detection. 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Expected Benefits</a:t>
            </a:r>
          </a:p>
          <a:p>
            <a:r>
              <a:rPr lang="en-US" dirty="0"/>
              <a:t>Faster screening process</a:t>
            </a:r>
          </a:p>
          <a:p>
            <a:r>
              <a:rPr lang="en-US" dirty="0"/>
              <a:t> Support doctors’ decision-making</a:t>
            </a:r>
          </a:p>
          <a:p>
            <a:r>
              <a:rPr lang="en-US" dirty="0"/>
              <a:t>Reduce manual workload</a:t>
            </a:r>
          </a:p>
          <a:p>
            <a:r>
              <a:rPr lang="en-US" dirty="0"/>
              <a:t>Improve accessibility of medical image analysis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000"/>
            </a:pPr>
            <a:r>
              <a:rPr lang="en-US" sz="3500">
                <a:solidFill>
                  <a:srgbClr val="FFFFFF"/>
                </a:solidFill>
              </a:rPr>
              <a:t>Literature Review - CNN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US" sz="1700" b="1" dirty="0"/>
          </a:p>
          <a:p>
            <a:pPr marL="0" indent="0">
              <a:buNone/>
            </a:pPr>
            <a:r>
              <a:rPr lang="en-US" sz="1800" b="1" dirty="0"/>
              <a:t>CNN</a:t>
            </a:r>
          </a:p>
          <a:p>
            <a:r>
              <a:rPr lang="en-US" sz="1800" dirty="0"/>
              <a:t>CNNs: good performance in image classification tasks. </a:t>
            </a:r>
          </a:p>
          <a:p>
            <a:r>
              <a:rPr lang="en-US" sz="1800" dirty="0"/>
              <a:t>LeCun et al. (1998) </a:t>
            </a:r>
            <a:r>
              <a:rPr lang="en-US" sz="1800" i="1" dirty="0"/>
              <a:t>Gradient-Based Learning Applied to Document Recognition</a:t>
            </a:r>
            <a:endParaRPr lang="en-US" sz="1800" dirty="0"/>
          </a:p>
          <a:p>
            <a:pPr marL="0" indent="0">
              <a:buNone/>
            </a:pPr>
            <a:r>
              <a:rPr lang="en-US" sz="1700" b="1" dirty="0"/>
              <a:t>Medical Image Diagnosis</a:t>
            </a:r>
          </a:p>
          <a:p>
            <a:r>
              <a:rPr lang="en-US" sz="1700" dirty="0"/>
              <a:t>CNN: help identify pneumonia patterns from X-ray images. </a:t>
            </a:r>
          </a:p>
          <a:p>
            <a:r>
              <a:rPr lang="en-US" sz="1700" dirty="0" err="1"/>
              <a:t>Kermany</a:t>
            </a:r>
            <a:r>
              <a:rPr lang="en-US" sz="1700" dirty="0"/>
              <a:t> et al. (2018) </a:t>
            </a:r>
            <a:r>
              <a:rPr lang="en-US" sz="1700" i="1" dirty="0"/>
              <a:t>Identifying Medical Diagnoses and Treatable Diseases by Image-Based Deep Learning</a:t>
            </a:r>
            <a:endParaRPr lang="en-US" sz="1700" dirty="0"/>
          </a:p>
          <a:p>
            <a:pPr marL="0" indent="0">
              <a:buNone/>
              <a:defRPr sz="1800"/>
            </a:pP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pPr>
              <a:defRPr sz="3000"/>
            </a:pPr>
            <a:r>
              <a:rPr lang="en-US" sz="3500"/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pPr marL="0" indent="0">
              <a:buNone/>
              <a:defRPr sz="1800"/>
            </a:pPr>
            <a:r>
              <a:rPr lang="en-US" sz="1700" dirty="0"/>
              <a:t>Chest X-Ray Images (Pneumonia)</a:t>
            </a:r>
          </a:p>
          <a:p>
            <a:pPr>
              <a:defRPr sz="1800"/>
            </a:pPr>
            <a:endParaRPr lang="en-US" sz="1700" dirty="0"/>
          </a:p>
          <a:p>
            <a:pPr marL="0" indent="0">
              <a:buNone/>
              <a:defRPr sz="1800"/>
            </a:pPr>
            <a:r>
              <a:rPr lang="en-US" sz="1700" dirty="0"/>
              <a:t>Dataset Type:</a:t>
            </a:r>
          </a:p>
          <a:p>
            <a:pPr>
              <a:defRPr sz="1800"/>
            </a:pPr>
            <a:r>
              <a:rPr lang="en-US" sz="1700" dirty="0"/>
              <a:t>Image dataset from Kaggle</a:t>
            </a:r>
          </a:p>
          <a:p>
            <a:pPr>
              <a:defRPr sz="1800"/>
            </a:pPr>
            <a:r>
              <a:rPr lang="en-US" sz="1700" dirty="0"/>
              <a:t>Supervised learning</a:t>
            </a:r>
          </a:p>
          <a:p>
            <a:pPr>
              <a:defRPr sz="1800"/>
            </a:pPr>
            <a:r>
              <a:rPr lang="en-US" sz="1700" dirty="0"/>
              <a:t>Binary classification</a:t>
            </a:r>
          </a:p>
          <a:p>
            <a:pPr marL="0" indent="0">
              <a:buNone/>
              <a:defRPr sz="1800"/>
            </a:pPr>
            <a:endParaRPr lang="en-US" sz="1700" dirty="0"/>
          </a:p>
          <a:p>
            <a:pPr marL="0" indent="0">
              <a:buNone/>
              <a:defRPr sz="1800"/>
            </a:pPr>
            <a:r>
              <a:rPr lang="en-US" sz="1700" dirty="0"/>
              <a:t>Classes:</a:t>
            </a:r>
          </a:p>
          <a:p>
            <a:pPr>
              <a:defRPr sz="1800"/>
            </a:pPr>
            <a:r>
              <a:rPr lang="en-US" sz="1700" dirty="0"/>
              <a:t>NORMAL</a:t>
            </a:r>
          </a:p>
          <a:p>
            <a:pPr>
              <a:defRPr sz="1800"/>
            </a:pPr>
            <a:r>
              <a:rPr lang="en-US" sz="1700" dirty="0"/>
              <a:t>PNEUMONIA</a:t>
            </a:r>
          </a:p>
        </p:txBody>
      </p:sp>
      <p:pic>
        <p:nvPicPr>
          <p:cNvPr id="13" name="Picture 12" descr="The radiologic figure of a skeleton">
            <a:extLst>
              <a:ext uri="{FF2B5EF4-FFF2-40B4-BE49-F238E27FC236}">
                <a16:creationId xmlns:a16="http://schemas.microsoft.com/office/drawing/2014/main" id="{F3DE8918-2452-8672-0011-FB0701B835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784" r="-1" b="-1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000"/>
            </a:pPr>
            <a:r>
              <a:rPr lang="en-US" sz="3500">
                <a:solidFill>
                  <a:srgbClr val="FFFFFF"/>
                </a:solidFill>
              </a:rPr>
              <a:t>Approach Used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5B3CA0-4ACC-9C32-AAE3-F3D40C9306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3808" y="106962"/>
            <a:ext cx="4901480" cy="6858001"/>
          </a:xfrm>
        </p:spPr>
        <p:txBody>
          <a:bodyPr anchor="ctr">
            <a:normAutofit lnSpcReduction="10000"/>
          </a:bodyPr>
          <a:lstStyle/>
          <a:p>
            <a:r>
              <a:rPr lang="en-US" sz="1800" dirty="0"/>
              <a:t>Input chest X-ray image: https://</a:t>
            </a:r>
            <a:r>
              <a:rPr lang="en-US" sz="1800" dirty="0" err="1"/>
              <a:t>www.kaggle.com</a:t>
            </a:r>
            <a:r>
              <a:rPr lang="en-US" sz="1800" dirty="0"/>
              <a:t>/datasets/</a:t>
            </a:r>
            <a:r>
              <a:rPr lang="en-US" sz="1800" dirty="0" err="1"/>
              <a:t>paultimothymooney</a:t>
            </a:r>
            <a:r>
              <a:rPr lang="en-US" sz="1800" dirty="0"/>
              <a:t>/chest-</a:t>
            </a:r>
            <a:r>
              <a:rPr lang="en-US" sz="1800" dirty="0" err="1"/>
              <a:t>xray</a:t>
            </a:r>
            <a:r>
              <a:rPr lang="en-US" sz="1800" dirty="0"/>
              <a:t>-pneumonia</a:t>
            </a:r>
          </a:p>
          <a:p>
            <a:r>
              <a:rPr lang="en-US" sz="1800" dirty="0"/>
              <a:t>Resize image (64 × 64)</a:t>
            </a:r>
          </a:p>
          <a:p>
            <a:r>
              <a:rPr lang="en-US" sz="1800" dirty="0"/>
              <a:t>Apply CNN convolution layer: 1st extracts low-level image features, 2</a:t>
            </a:r>
            <a:r>
              <a:rPr lang="en-US" sz="1800" baseline="30000" dirty="0"/>
              <a:t>nd</a:t>
            </a:r>
            <a:r>
              <a:rPr lang="en-US" sz="1800" dirty="0"/>
              <a:t> learns more complex patterns before classification.</a:t>
            </a:r>
          </a:p>
          <a:p>
            <a:r>
              <a:rPr lang="en-US" sz="1800" dirty="0"/>
              <a:t>Use </a:t>
            </a:r>
            <a:r>
              <a:rPr lang="en-US" sz="1800" dirty="0" err="1"/>
              <a:t>ReLU</a:t>
            </a:r>
            <a:r>
              <a:rPr lang="en-US" sz="1800" dirty="0"/>
              <a:t> activation: reduces vanishing gradients and makes deep networks train faster.</a:t>
            </a:r>
          </a:p>
          <a:p>
            <a:r>
              <a:rPr lang="en-US" sz="1800" dirty="0"/>
              <a:t>Apply max pooling </a:t>
            </a:r>
          </a:p>
          <a:p>
            <a:r>
              <a:rPr lang="en-US" sz="1800" dirty="0"/>
              <a:t>Flatten extracted features </a:t>
            </a:r>
          </a:p>
          <a:p>
            <a:r>
              <a:rPr lang="en-US" sz="1800" dirty="0"/>
              <a:t>Classify image as Normal or Pneumonia </a:t>
            </a:r>
          </a:p>
          <a:p>
            <a:r>
              <a:rPr lang="en-US" sz="1800" dirty="0"/>
              <a:t>Tools: </a:t>
            </a:r>
            <a:r>
              <a:rPr lang="en-US" sz="1800" dirty="0" err="1"/>
              <a:t>PyTorch</a:t>
            </a:r>
            <a:r>
              <a:rPr lang="en-US" sz="1800" dirty="0"/>
              <a:t>: </a:t>
            </a:r>
            <a:r>
              <a:rPr lang="en-US" sz="1800" dirty="0">
                <a:hlinkClick r:id="rId2"/>
              </a:rPr>
              <a:t>https://pytorch.org/</a:t>
            </a:r>
            <a:r>
              <a:rPr lang="en-US" sz="1800" dirty="0"/>
              <a:t>, </a:t>
            </a:r>
            <a:r>
              <a:rPr lang="en-US" sz="1800" dirty="0" err="1"/>
              <a:t>TorchVision</a:t>
            </a:r>
            <a:r>
              <a:rPr lang="en-US" sz="1800" dirty="0"/>
              <a:t>: </a:t>
            </a:r>
            <a:r>
              <a:rPr lang="en-US" sz="1800" dirty="0">
                <a:hlinkClick r:id="rId3"/>
              </a:rPr>
              <a:t>https://docs.pytorch.org/vision/stable/index.html</a:t>
            </a:r>
            <a:r>
              <a:rPr lang="en-US" sz="1800" dirty="0"/>
              <a:t>, Matplotlib: https://</a:t>
            </a:r>
            <a:r>
              <a:rPr lang="en-US" sz="1800" dirty="0" err="1"/>
              <a:t>matplotlib.org</a:t>
            </a:r>
            <a:r>
              <a:rPr lang="en-US" sz="1800" dirty="0"/>
              <a:t>/</a:t>
            </a:r>
          </a:p>
          <a:p>
            <a:r>
              <a:rPr lang="en-US" sz="1800" dirty="0"/>
              <a:t>Training: </a:t>
            </a:r>
          </a:p>
          <a:p>
            <a:pPr lvl="1"/>
            <a:r>
              <a:rPr lang="en-US" sz="1400" dirty="0"/>
              <a:t>Cross Entropy Loss: for binary classification task. It compares the predicted class probabilities with the true labels and guides the CNN to reduce classification errors</a:t>
            </a:r>
          </a:p>
          <a:p>
            <a:pPr lvl="1"/>
            <a:r>
              <a:rPr lang="en-US" sz="1400" dirty="0"/>
              <a:t>Adam Optimizer: automatically adjusts the learning rate for each parameter, which is very helpful when the training data is noisy or the architecture is simple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DD4371-E23E-F0E3-D559-2F2811B88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178AD-4D0B-CC36-2168-245C3FD18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543" y="190394"/>
            <a:ext cx="5605629" cy="994172"/>
          </a:xfrm>
        </p:spPr>
        <p:txBody>
          <a:bodyPr>
            <a:normAutofit/>
          </a:bodyPr>
          <a:lstStyle/>
          <a:p>
            <a:pPr>
              <a:defRPr sz="3000"/>
            </a:pPr>
            <a:r>
              <a:rPr lang="en-US" sz="3850" dirty="0"/>
              <a:t>Results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1D6ADCF-E856-B08E-FFE7-50D6AD8183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7C35415-B6A7-8151-EFBC-0E97ABD2DD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Checkmark">
            <a:extLst>
              <a:ext uri="{FF2B5EF4-FFF2-40B4-BE49-F238E27FC236}">
                <a16:creationId xmlns:a16="http://schemas.microsoft.com/office/drawing/2014/main" id="{6F6C6530-43A2-9589-B9DB-FC10960FA4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C339B2-1164-2144-D782-B4DC973DB9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84566"/>
            <a:ext cx="5417127" cy="5673434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/>
              <a:t>Results &amp; Evaluation</a:t>
            </a:r>
          </a:p>
          <a:p>
            <a:r>
              <a:rPr lang="en-US" dirty="0"/>
              <a:t>The CNN model was trained for </a:t>
            </a:r>
            <a:r>
              <a:rPr lang="en-US" b="1" dirty="0"/>
              <a:t>15 epochs</a:t>
            </a:r>
            <a:r>
              <a:rPr lang="en-US" dirty="0"/>
              <a:t> using chest X-ray images to classify </a:t>
            </a:r>
            <a:r>
              <a:rPr lang="en-US" b="1" dirty="0"/>
              <a:t>Normal vs Pneumonia</a:t>
            </a:r>
            <a:r>
              <a:rPr lang="en-US" dirty="0"/>
              <a:t> cases. </a:t>
            </a:r>
          </a:p>
          <a:p>
            <a:r>
              <a:rPr lang="en-US" dirty="0"/>
              <a:t>During training, the model accuracy increased gradually, showing that the CNN successfully learned important image patterns such as lung texture differences. </a:t>
            </a:r>
          </a:p>
          <a:p>
            <a:r>
              <a:rPr lang="en-US" dirty="0"/>
              <a:t>CNN model was evaluated on unseen test images and achieved a final test accuracy of </a:t>
            </a:r>
            <a:r>
              <a:rPr lang="en-US" b="1" dirty="0"/>
              <a:t>78.82%</a:t>
            </a:r>
            <a:r>
              <a:rPr lang="en-US" dirty="0"/>
              <a:t>. This shows that the model successfully learned meaningful visual patterns from chest X-ray images to classify </a:t>
            </a:r>
            <a:r>
              <a:rPr lang="en-US" b="1" dirty="0"/>
              <a:t>Normal vs Pneumonia</a:t>
            </a:r>
            <a:r>
              <a:rPr lang="en-US" dirty="0"/>
              <a:t> cases.</a:t>
            </a:r>
          </a:p>
          <a:p>
            <a:r>
              <a:rPr lang="en-US" dirty="0"/>
              <a:t>However, the accuracy fluctuated across epochs, which suggests that the training process was not fully stable. This may be caused by limited data, small batch size, or untuned hyperparameters.</a:t>
            </a:r>
          </a:p>
          <a:p>
            <a:r>
              <a:rPr lang="en-US" dirty="0"/>
              <a:t>Performance could be improved by using more training data, adding data augmentation, training for more epochs, and tuning the learning rate or batch size.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3841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321" y="49205"/>
            <a:ext cx="5605629" cy="994172"/>
          </a:xfrm>
        </p:spPr>
        <p:txBody>
          <a:bodyPr>
            <a:normAutofit/>
          </a:bodyPr>
          <a:lstStyle/>
          <a:p>
            <a:pPr>
              <a:defRPr sz="3000"/>
            </a:pPr>
            <a:r>
              <a:rPr lang="en-US" sz="3850" dirty="0"/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2321" y="2227943"/>
            <a:ext cx="5033221" cy="378822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defRPr sz="1800"/>
            </a:pPr>
            <a:endParaRPr lang="en-US" sz="15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Checkmark">
            <a:extLst>
              <a:ext uri="{FF2B5EF4-FFF2-40B4-BE49-F238E27FC236}">
                <a16:creationId xmlns:a16="http://schemas.microsoft.com/office/drawing/2014/main" id="{9EE686CB-DC19-0DFE-596D-36FB5F8999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0BC3663-980C-673E-08E3-79E1AFE34D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437" y="1149660"/>
            <a:ext cx="5605629" cy="537164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8BCBF4-39A9-7DED-1BB2-6E8AE1AA7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65461-1818-D9AF-89D4-16307CB78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994172"/>
          </a:xfrm>
        </p:spPr>
        <p:txBody>
          <a:bodyPr>
            <a:normAutofit/>
          </a:bodyPr>
          <a:lstStyle/>
          <a:p>
            <a:pPr>
              <a:defRPr sz="3000"/>
            </a:pPr>
            <a:r>
              <a:rPr lang="en-US" sz="3850"/>
              <a:t>Results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211426C-EC7E-2543-0F11-9E5186AAAB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52251" y="1681652"/>
            <a:ext cx="4162387" cy="494601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0533F47-6AB2-F40E-2450-CCF030E69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BC47FAE-1ABB-2729-4CCC-9FEB2F324C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Checkmark">
            <a:extLst>
              <a:ext uri="{FF2B5EF4-FFF2-40B4-BE49-F238E27FC236}">
                <a16:creationId xmlns:a16="http://schemas.microsoft.com/office/drawing/2014/main" id="{E87E880A-B180-F87B-C261-11737D839D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6004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994172"/>
          </a:xfrm>
        </p:spPr>
        <p:txBody>
          <a:bodyPr>
            <a:normAutofit/>
          </a:bodyPr>
          <a:lstStyle/>
          <a:p>
            <a:pPr>
              <a:defRPr sz="3000"/>
            </a:pPr>
            <a:r>
              <a:rPr lang="en-US" sz="3850" dirty="0"/>
              <a:t>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2321" y="2227943"/>
            <a:ext cx="5033221" cy="3788227"/>
          </a:xfrm>
        </p:spPr>
        <p:txBody>
          <a:bodyPr anchor="ctr">
            <a:normAutofit/>
          </a:bodyPr>
          <a:lstStyle/>
          <a:p>
            <a:pPr>
              <a:defRPr sz="1800"/>
            </a:pPr>
            <a:r>
              <a:rPr lang="en-US" sz="2100" dirty="0"/>
              <a:t>Load dataset</a:t>
            </a:r>
          </a:p>
          <a:p>
            <a:pPr>
              <a:defRPr sz="1800"/>
            </a:pPr>
            <a:r>
              <a:rPr lang="en-US" sz="2100" dirty="0"/>
              <a:t>Train CNN model</a:t>
            </a:r>
          </a:p>
          <a:p>
            <a:pPr>
              <a:defRPr sz="1800"/>
            </a:pPr>
            <a:r>
              <a:rPr lang="en-US" sz="2100" dirty="0"/>
              <a:t>Show training result</a:t>
            </a:r>
          </a:p>
          <a:p>
            <a:pPr>
              <a:defRPr sz="1800"/>
            </a:pPr>
            <a:r>
              <a:rPr lang="en-US" sz="2100" dirty="0"/>
              <a:t>Test X-ray image</a:t>
            </a:r>
          </a:p>
          <a:p>
            <a:pPr>
              <a:defRPr sz="1800"/>
            </a:pPr>
            <a:r>
              <a:rPr lang="en-US" sz="2100" dirty="0"/>
              <a:t>Display prediction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Teacher">
            <a:extLst>
              <a:ext uri="{FF2B5EF4-FFF2-40B4-BE49-F238E27FC236}">
                <a16:creationId xmlns:a16="http://schemas.microsoft.com/office/drawing/2014/main" id="{E0C51F36-5B51-466E-0F1C-3974037138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pPr>
              <a:defRPr sz="3000"/>
            </a:pPr>
            <a:r>
              <a:rPr lang="en-US" sz="3500">
                <a:solidFill>
                  <a:srgbClr val="FFFFFF"/>
                </a:solidFill>
              </a:rPr>
              <a:t>Links and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pPr marL="0" indent="0">
              <a:buNone/>
              <a:defRPr sz="1800"/>
            </a:pPr>
            <a:r>
              <a:rPr lang="en-US" sz="1700" dirty="0"/>
              <a:t>GitHub:</a:t>
            </a:r>
          </a:p>
          <a:p>
            <a:pPr>
              <a:defRPr sz="1800"/>
            </a:pPr>
            <a:r>
              <a:rPr lang="en-US" sz="1700" dirty="0"/>
              <a:t>https://</a:t>
            </a:r>
            <a:r>
              <a:rPr lang="en-US" sz="1700" dirty="0" err="1"/>
              <a:t>github.com</a:t>
            </a:r>
            <a:r>
              <a:rPr lang="en-US" sz="1700" dirty="0"/>
              <a:t>/thucanh305/</a:t>
            </a:r>
            <a:r>
              <a:rPr lang="en-US" sz="1700" dirty="0" err="1"/>
              <a:t>mrp_final</a:t>
            </a:r>
            <a:endParaRPr lang="en-US" sz="1700" dirty="0"/>
          </a:p>
          <a:p>
            <a:pPr>
              <a:defRPr sz="1800"/>
            </a:pPr>
            <a:endParaRPr lang="en-US" sz="1700" dirty="0"/>
          </a:p>
          <a:p>
            <a:pPr marL="0" indent="0">
              <a:buNone/>
              <a:defRPr sz="1800"/>
            </a:pPr>
            <a:r>
              <a:rPr lang="en-US" sz="1700" dirty="0"/>
              <a:t>YouTube Demo:</a:t>
            </a:r>
          </a:p>
          <a:p>
            <a:pPr>
              <a:defRPr sz="1800"/>
            </a:pPr>
            <a:r>
              <a:rPr lang="en-US" sz="1700" dirty="0">
                <a:hlinkClick r:id="rId2"/>
              </a:rPr>
              <a:t>https://youtu.be/hoMQMG_n_yI</a:t>
            </a:r>
            <a:endParaRPr lang="en-US" sz="1700" dirty="0"/>
          </a:p>
          <a:p>
            <a:pPr>
              <a:defRPr sz="1800"/>
            </a:pPr>
            <a:endParaRPr lang="en-US" sz="1700" dirty="0"/>
          </a:p>
          <a:p>
            <a:pPr marL="0" indent="0">
              <a:buNone/>
              <a:defRPr sz="1800"/>
            </a:pPr>
            <a:r>
              <a:rPr lang="en-US" sz="1700" dirty="0"/>
              <a:t>Future Plan:</a:t>
            </a:r>
          </a:p>
          <a:p>
            <a:pPr>
              <a:defRPr sz="1800"/>
            </a:pPr>
            <a:r>
              <a:rPr lang="en-US" sz="1700" dirty="0"/>
              <a:t>Implement Transfer Learning</a:t>
            </a:r>
          </a:p>
          <a:p>
            <a:pPr lvl="1">
              <a:defRPr sz="1800"/>
            </a:pPr>
            <a:r>
              <a:rPr lang="en-US" sz="1300" dirty="0"/>
              <a:t>Take a model pre-trained on a massive dataset (like ImageNet) and 'fine-tune' it for X-ray detection. </a:t>
            </a:r>
          </a:p>
          <a:p>
            <a:pPr lvl="1">
              <a:defRPr sz="1800"/>
            </a:pPr>
            <a:r>
              <a:rPr lang="en-US" sz="1300" dirty="0"/>
              <a:t> Give the model a 'head start' by letting it use pre-learned knowledge of complex shapes, which is much more effective than training from scratch on a small dataset.</a:t>
            </a:r>
          </a:p>
          <a:p>
            <a:pPr marL="0" indent="0">
              <a:buNone/>
              <a:defRPr sz="1800"/>
            </a:pP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657</Words>
  <Application>Microsoft Macintosh PowerPoint</Application>
  <PresentationFormat>On-screen Show (4:3)</PresentationFormat>
  <Paragraphs>79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Pneumonia Detection Using CNN</vt:lpstr>
      <vt:lpstr>Motivation</vt:lpstr>
      <vt:lpstr>Literature Review - CNN</vt:lpstr>
      <vt:lpstr>Dataset</vt:lpstr>
      <vt:lpstr>Approach Used</vt:lpstr>
      <vt:lpstr>Results</vt:lpstr>
      <vt:lpstr>Results</vt:lpstr>
      <vt:lpstr>Results</vt:lpstr>
      <vt:lpstr>Demo</vt:lpstr>
      <vt:lpstr>Links and 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Nguyen Thuc Anh Ho</cp:lastModifiedBy>
  <cp:revision>6</cp:revision>
  <dcterms:created xsi:type="dcterms:W3CDTF">2013-01-27T09:14:16Z</dcterms:created>
  <dcterms:modified xsi:type="dcterms:W3CDTF">2026-06-13T19:25:06Z</dcterms:modified>
  <cp:category/>
</cp:coreProperties>
</file>